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460ca1f48405f" /><Relationship Type="http://schemas.openxmlformats.org/officeDocument/2006/relationships/extended-properties" Target="/docProps/app.xml" Id="Rabb370b6a4b44ee7" /><Relationship Type="http://schemas.openxmlformats.org/officeDocument/2006/relationships/officeDocument" Target="/ppt/presentation.xml" Id="R41508e3821d5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aaf3676ef4791"/>
  </p:sldMasterIdLst>
  <p:notesMasterIdLst>
    <p:notesMasterId xmlns:r="http://schemas.openxmlformats.org/officeDocument/2006/relationships" r:id="R97a5ab5b2ab145c0"/>
  </p:notesMasterIdLst>
  <p:sldIdLst>
    <p:sldId xmlns:r="http://schemas.openxmlformats.org/officeDocument/2006/relationships" id="256" r:id="Ra30ea75ffe6545d7"/>
    <p:sldId xmlns:r="http://schemas.openxmlformats.org/officeDocument/2006/relationships" id="257" r:id="Refb982a313e44ffb"/>
    <p:sldId xmlns:r="http://schemas.openxmlformats.org/officeDocument/2006/relationships" id="258" r:id="R55647b3c46404c58"/>
    <p:sldId xmlns:r="http://schemas.openxmlformats.org/officeDocument/2006/relationships" id="259" r:id="R2e8c7089b14541f2"/>
    <p:sldId xmlns:r="http://schemas.openxmlformats.org/officeDocument/2006/relationships" id="260" r:id="R7473c55c081e4294"/>
    <p:sldId xmlns:r="http://schemas.openxmlformats.org/officeDocument/2006/relationships" id="261" r:id="R4ae8eebd92974288"/>
    <p:sldId xmlns:r="http://schemas.openxmlformats.org/officeDocument/2006/relationships" id="262" r:id="R5de0616e489d4055"/>
    <p:sldId xmlns:r="http://schemas.openxmlformats.org/officeDocument/2006/relationships" id="263" r:id="Rccc67639dbe94252"/>
    <p:sldId xmlns:r="http://schemas.openxmlformats.org/officeDocument/2006/relationships" id="264" r:id="Rfff150d671114c27"/>
    <p:sldId xmlns:r="http://schemas.openxmlformats.org/officeDocument/2006/relationships" id="265" r:id="R6943a4cdc62242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a386d935f4e6d" /><Relationship Type="http://schemas.openxmlformats.org/officeDocument/2006/relationships/slideMaster" Target="/ppt/slideMasters/slideMaster1.xml" Id="R926aaf3676ef4791" /><Relationship Type="http://schemas.openxmlformats.org/officeDocument/2006/relationships/notesMaster" Target="/ppt/notesMasters/notesMaster1.xml" Id="R97a5ab5b2ab145c0" /><Relationship Type="http://schemas.openxmlformats.org/officeDocument/2006/relationships/presProps" Target="/ppt/presProps.xml" Id="Rbe15c0f699af4d92" /><Relationship Type="http://schemas.openxmlformats.org/officeDocument/2006/relationships/tableStyles" Target="/ppt/tableStyles.xml" Id="R7d12a17226084633" /><Relationship Type="http://schemas.openxmlformats.org/officeDocument/2006/relationships/slide" Target="/ppt/slides/slide1.xml" Id="Ra30ea75ffe6545d7" /><Relationship Type="http://schemas.openxmlformats.org/officeDocument/2006/relationships/slide" Target="/ppt/slides/slide2.xml" Id="Refb982a313e44ffb" /><Relationship Type="http://schemas.openxmlformats.org/officeDocument/2006/relationships/slide" Target="/ppt/slides/slide3.xml" Id="R55647b3c46404c58" /><Relationship Type="http://schemas.openxmlformats.org/officeDocument/2006/relationships/slide" Target="/ppt/slides/slide4.xml" Id="R2e8c7089b14541f2" /><Relationship Type="http://schemas.openxmlformats.org/officeDocument/2006/relationships/slide" Target="/ppt/slides/slide5.xml" Id="R7473c55c081e4294" /><Relationship Type="http://schemas.openxmlformats.org/officeDocument/2006/relationships/slide" Target="/ppt/slides/slide6.xml" Id="R4ae8eebd92974288" /><Relationship Type="http://schemas.openxmlformats.org/officeDocument/2006/relationships/slide" Target="/ppt/slides/slide7.xml" Id="R5de0616e489d4055" /><Relationship Type="http://schemas.openxmlformats.org/officeDocument/2006/relationships/slide" Target="/ppt/slides/slide8.xml" Id="Rccc67639dbe94252" /><Relationship Type="http://schemas.openxmlformats.org/officeDocument/2006/relationships/slide" Target="/ppt/slides/slide9.xml" Id="Rfff150d671114c27" /><Relationship Type="http://schemas.openxmlformats.org/officeDocument/2006/relationships/slide" Target="/ppt/slides/slide10.xml" Id="R6943a4cdc622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cf5102ff441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a3185861d4727" /><Relationship Type="http://schemas.openxmlformats.org/officeDocument/2006/relationships/notesMaster" Target="/ppt/notesMasters/notesMaster1.xml" Id="R11d8fb295689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527c1ecc14be1" /><Relationship Type="http://schemas.openxmlformats.org/officeDocument/2006/relationships/notesMaster" Target="/ppt/notesMasters/notesMaster1.xml" Id="R41c21fd40911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9f62f8e0984a6f" /><Relationship Type="http://schemas.openxmlformats.org/officeDocument/2006/relationships/notesMaster" Target="/ppt/notesMasters/notesMaster1.xml" Id="R259a78abb0db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f024821b84d18" /><Relationship Type="http://schemas.openxmlformats.org/officeDocument/2006/relationships/notesMaster" Target="/ppt/notesMasters/notesMaster1.xml" Id="R44ee0dedabce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725b264ad4ad6" /><Relationship Type="http://schemas.openxmlformats.org/officeDocument/2006/relationships/notesMaster" Target="/ppt/notesMasters/notesMaster1.xml" Id="Red3f4f0d14e949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5dd5c5ca6245fe" /><Relationship Type="http://schemas.openxmlformats.org/officeDocument/2006/relationships/notesMaster" Target="/ppt/notesMasters/notesMaster1.xml" Id="Rbf536f139739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509baab4a46bd" /><Relationship Type="http://schemas.openxmlformats.org/officeDocument/2006/relationships/notesMaster" Target="/ppt/notesMasters/notesMaster1.xml" Id="R23845f0a85bc4c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f05fcf3c1474f" /><Relationship Type="http://schemas.openxmlformats.org/officeDocument/2006/relationships/notesMaster" Target="/ppt/notesMasters/notesMaster1.xml" Id="Rec1599bbcd34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2f7ca5c0e4dc6" /><Relationship Type="http://schemas.openxmlformats.org/officeDocument/2006/relationships/notesMaster" Target="/ppt/notesMasters/notesMaster1.xml" Id="Rb8c492196f3242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54c2abf4d44f14" /><Relationship Type="http://schemas.openxmlformats.org/officeDocument/2006/relationships/notesMaster" Target="/ppt/notesMasters/notesMaster1.xml" Id="Rbcd5205798ca40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157f81f64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e4e7fc845d436a" /><Relationship Type="http://schemas.openxmlformats.org/officeDocument/2006/relationships/slideLayout" Target="/ppt/slideLayouts/slideLayout1.xml" Id="Rac941d8efb824d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941d8efb824d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4331759da4eb0" /><Relationship Type="http://schemas.openxmlformats.org/officeDocument/2006/relationships/notesSlide" Target="/ppt/notesSlides/notesSlide1.xml" Id="Ra9bdd80f0092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aea45450c4a20" /><Relationship Type="http://schemas.openxmlformats.org/officeDocument/2006/relationships/notesSlide" Target="/ppt/notesSlides/notesSlide2.xml" Id="R3b73e21a853845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9ff9e1bab4e77" /><Relationship Type="http://schemas.openxmlformats.org/officeDocument/2006/relationships/notesSlide" Target="/ppt/notesSlides/notesSlide3.xml" Id="R9cc4e774b629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afeeef3749f7" /><Relationship Type="http://schemas.openxmlformats.org/officeDocument/2006/relationships/notesSlide" Target="/ppt/notesSlides/notesSlide4.xml" Id="R46ddf8021bab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983c84a5b4288" /><Relationship Type="http://schemas.openxmlformats.org/officeDocument/2006/relationships/notesSlide" Target="/ppt/notesSlides/notesSlide5.xml" Id="R98de13cdbd2148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21cc440ce4502" /><Relationship Type="http://schemas.openxmlformats.org/officeDocument/2006/relationships/chart" Target="/ppt/slides/charts/chart1.xml" Id="R5ed81afac97d459e" /><Relationship Type="http://schemas.openxmlformats.org/officeDocument/2006/relationships/notesSlide" Target="/ppt/notesSlides/notesSlide6.xml" Id="Rc78d430960ef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58564ce5149c0" /><Relationship Type="http://schemas.openxmlformats.org/officeDocument/2006/relationships/chart" Target="/ppt/slides/charts/chart2.xml" Id="R41158f6f9062419e" /><Relationship Type="http://schemas.openxmlformats.org/officeDocument/2006/relationships/chart" Target="/ppt/slides/charts/chart3.xml" Id="Rd1b393bee3a74869" /><Relationship Type="http://schemas.openxmlformats.org/officeDocument/2006/relationships/notesSlide" Target="/ppt/notesSlides/notesSlide7.xml" Id="R25f9a6e80465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0383f5c0d4d5a" /><Relationship Type="http://schemas.openxmlformats.org/officeDocument/2006/relationships/chart" Target="/ppt/slides/charts/chart4.xml" Id="R7dfa110a99eb4e18" /><Relationship Type="http://schemas.openxmlformats.org/officeDocument/2006/relationships/chart" Target="/ppt/slides/charts/chart5.xml" Id="R78f61f50df504fdd" /><Relationship Type="http://schemas.openxmlformats.org/officeDocument/2006/relationships/notesSlide" Target="/ppt/notesSlides/notesSlide8.xml" Id="Rdeb5a6cdb9324b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6bc6c6cd43f6" /><Relationship Type="http://schemas.openxmlformats.org/officeDocument/2006/relationships/notesSlide" Target="/ppt/notesSlides/notesSlide9.xml" Id="R48f27e905d0647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d5a21a7824b2f" /><Relationship Type="http://schemas.openxmlformats.org/officeDocument/2006/relationships/notesSlide" Target="/ppt/notesSlides/notesSlide10.xml" Id="Rdd56585b50f64b7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Average RTE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Old best</c:v>
              </c:pt>
              <c:pt idx="1">
                <c:v>Current</c:v>
              </c:pt>
            </c:strLit>
          </c:cat>
          <c:val>
            <c:numLit>
              <c:formatCode>General</c:formatCode>
              <c:ptCount val="2"/>
              <c:pt idx="0">
                <c:v>10.393</c:v>
              </c:pt>
              <c:pt idx="1">
                <c:v>10.4204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.5"/>
          <c:min val="1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Delta RTE</c:v>
          </c:tx>
          <c:spPr>
            <a:solidFill xmlns:a="http://schemas.openxmlformats.org/drawingml/2006/main">
              <a:srgbClr val="FF6B35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-20~0s</c:v>
              </c:pt>
              <c:pt idx="1">
                <c:v>0~3s</c:v>
              </c:pt>
              <c:pt idx="2">
                <c:v>3~6s</c:v>
              </c:pt>
              <c:pt idx="3">
                <c:v>6~20s</c:v>
              </c:pt>
            </c:strLit>
          </c:cat>
          <c:val>
            <c:numLit>
              <c:formatCode>General</c:formatCode>
              <c:ptCount val="4"/>
              <c:pt idx="0">
                <c:v>0.16</c:v>
              </c:pt>
              <c:pt idx="1">
                <c:v>-0.73</c:v>
              </c:pt>
              <c:pt idx="2">
                <c:v>-0.01</c:v>
              </c:pt>
              <c:pt idx="3">
                <c:v>0.09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3"/>
          <c:min val="-0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Sample share</c:v>
          </c:tx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-20~0s</c:v>
              </c:pt>
              <c:pt idx="1">
                <c:v>0~3s</c:v>
              </c:pt>
              <c:pt idx="2">
                <c:v>3~6s</c:v>
              </c:pt>
              <c:pt idx="3">
                <c:v>6~20s</c:v>
              </c:pt>
            </c:strLit>
          </c:cat>
          <c:val>
            <c:numLit>
              <c:formatCode>General</c:formatCode>
              <c:ptCount val="4"/>
              <c:pt idx="0">
                <c:v>8561</c:v>
              </c:pt>
              <c:pt idx="1">
                <c:v>3876</c:v>
              </c:pt>
              <c:pt idx="2">
                <c:v>3958</c:v>
              </c:pt>
              <c:pt idx="3">
                <c:v>12221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doughnutChart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Old PPM1st RTE</c:v>
          </c:tx>
          <c:spPr>
            <a:ln xmlns:a="http://schemas.openxmlformats.org/drawingml/2006/main" w="28575">
              <a:solidFill>
                <a:srgbClr val="2F5EAA"/>
              </a:solidFill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e25</c:v>
              </c:pt>
              <c:pt idx="1">
                <c:v>e26</c:v>
              </c:pt>
              <c:pt idx="2">
                <c:v>e27</c:v>
              </c:pt>
              <c:pt idx="3">
                <c:v>e28</c:v>
              </c:pt>
              <c:pt idx="4">
                <c:v>e29</c:v>
              </c:pt>
              <c:pt idx="5">
                <c:v>e30</c:v>
              </c:pt>
              <c:pt idx="6">
                <c:v>e31</c:v>
              </c:pt>
              <c:pt idx="7">
                <c:v>e32</c:v>
              </c:pt>
              <c:pt idx="8">
                <c:v>e33</c:v>
              </c:pt>
              <c:pt idx="9">
                <c:v>e34</c:v>
              </c:pt>
              <c:pt idx="10">
                <c:v>e35</c:v>
              </c:pt>
              <c:pt idx="11">
                <c:v>e36</c:v>
              </c:pt>
            </c:strLit>
          </c:cat>
          <c:val>
            <c:numLit>
              <c:formatCode>General</c:formatCode>
              <c:ptCount val="12"/>
              <c:pt idx="0">
                <c:v>10.598985</c:v>
              </c:pt>
              <c:pt idx="1">
                <c:v>10.578772</c:v>
              </c:pt>
              <c:pt idx="2">
                <c:v>10.641507</c:v>
              </c:pt>
              <c:pt idx="3">
                <c:v>10.451857</c:v>
              </c:pt>
              <c:pt idx="4">
                <c:v>10.441553</c:v>
              </c:pt>
              <c:pt idx="5">
                <c:v>10.393025</c:v>
              </c:pt>
              <c:pt idx="6">
                <c:v>10.421808</c:v>
              </c:pt>
              <c:pt idx="7">
                <c:v>10.542651</c:v>
              </c:pt>
              <c:pt idx="8">
                <c:v>10.612012</c:v>
              </c:pt>
              <c:pt idx="9">
                <c:v>10.59937</c:v>
              </c:pt>
              <c:pt idx="10">
                <c:v>10.484723</c:v>
              </c:pt>
              <c:pt idx="11">
                <c:v>10.533611</c:v>
              </c:pt>
            </c:numLit>
          </c:val>
          <c:smooth val="0"/>
        </c:ser>
        <c:ser>
          <c:idx val="1"/>
          <c:order val="1"/>
          <c:tx>
            <c:v>Current 50bin RTE</c:v>
          </c:tx>
          <c:spPr>
            <a:ln xmlns:a="http://schemas.openxmlformats.org/drawingml/2006/main" w="28575">
              <a:solidFill>
                <a:srgbClr val="FF6B35"/>
              </a:solidFill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e25</c:v>
              </c:pt>
              <c:pt idx="1">
                <c:v>e26</c:v>
              </c:pt>
              <c:pt idx="2">
                <c:v>e27</c:v>
              </c:pt>
              <c:pt idx="3">
                <c:v>e28</c:v>
              </c:pt>
              <c:pt idx="4">
                <c:v>e29</c:v>
              </c:pt>
              <c:pt idx="5">
                <c:v>e30</c:v>
              </c:pt>
              <c:pt idx="6">
                <c:v>e31</c:v>
              </c:pt>
              <c:pt idx="7">
                <c:v>e32</c:v>
              </c:pt>
              <c:pt idx="8">
                <c:v>e33</c:v>
              </c:pt>
              <c:pt idx="9">
                <c:v>e34</c:v>
              </c:pt>
              <c:pt idx="10">
                <c:v>e35</c:v>
              </c:pt>
              <c:pt idx="11">
                <c:v>e36</c:v>
              </c:pt>
            </c:strLit>
          </c:cat>
          <c:val>
            <c:numLit>
              <c:formatCode>General</c:formatCode>
              <c:ptCount val="12"/>
              <c:pt idx="0">
                <c:v>10.574317</c:v>
              </c:pt>
              <c:pt idx="1">
                <c:v>10.620429</c:v>
              </c:pt>
              <c:pt idx="2">
                <c:v>10.592406</c:v>
              </c:pt>
              <c:pt idx="3">
                <c:v>10.463709</c:v>
              </c:pt>
              <c:pt idx="4">
                <c:v>10.654018</c:v>
              </c:pt>
              <c:pt idx="5">
                <c:v>10.512341</c:v>
              </c:pt>
              <c:pt idx="6">
                <c:v>10.486472</c:v>
              </c:pt>
              <c:pt idx="7">
                <c:v>10.448548</c:v>
              </c:pt>
              <c:pt idx="8">
                <c:v>10.467386</c:v>
              </c:pt>
              <c:pt idx="9">
                <c:v>10.48968</c:v>
              </c:pt>
              <c:pt idx="10">
                <c:v>10.430865</c:v>
              </c:pt>
              <c:pt idx="11">
                <c:v>10.420398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.7"/>
          <c:min val="1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55555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Old loss last100</c:v>
          </c:tx>
          <c:spPr>
            <a:ln xmlns:a="http://schemas.openxmlformats.org/drawingml/2006/main" w="28575">
              <a:solidFill>
                <a:srgbClr val="2F5EAA"/>
              </a:solidFill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e25</c:v>
              </c:pt>
              <c:pt idx="1">
                <c:v>e28</c:v>
              </c:pt>
              <c:pt idx="2">
                <c:v>e29</c:v>
              </c:pt>
              <c:pt idx="3">
                <c:v>e30</c:v>
              </c:pt>
              <c:pt idx="4">
                <c:v>e31</c:v>
              </c:pt>
              <c:pt idx="5">
                <c:v>e32</c:v>
              </c:pt>
              <c:pt idx="6">
                <c:v>e33</c:v>
              </c:pt>
              <c:pt idx="7">
                <c:v>e34</c:v>
              </c:pt>
              <c:pt idx="8">
                <c:v>e35</c:v>
              </c:pt>
              <c:pt idx="9">
                <c:v>e36</c:v>
              </c:pt>
            </c:strLit>
          </c:cat>
          <c:val>
            <c:numLit>
              <c:formatCode>General</c:formatCode>
              <c:ptCount val="10"/>
              <c:pt idx="0">
                <c:v>0.806</c:v>
              </c:pt>
              <c:pt idx="1">
                <c:v>0.809</c:v>
              </c:pt>
              <c:pt idx="2">
                <c:v>0.821</c:v>
              </c:pt>
              <c:pt idx="3">
                <c:v>0.776</c:v>
              </c:pt>
              <c:pt idx="4">
                <c:v>0.805</c:v>
              </c:pt>
              <c:pt idx="5">
                <c:v>0.778</c:v>
              </c:pt>
              <c:pt idx="6">
                <c:v>0.792</c:v>
              </c:pt>
              <c:pt idx="7">
                <c:v>0.837</c:v>
              </c:pt>
              <c:pt idx="8">
                <c:v>0.807</c:v>
              </c:pt>
              <c:pt idx="9">
                <c:v>0.816</c:v>
              </c:pt>
            </c:numLit>
          </c:val>
          <c:smooth val="0"/>
        </c:ser>
        <c:ser>
          <c:idx val="1"/>
          <c:order val="1"/>
          <c:tx>
            <c:v>Current loss last100</c:v>
          </c:tx>
          <c:spPr>
            <a:ln xmlns:a="http://schemas.openxmlformats.org/drawingml/2006/main" w="28575">
              <a:solidFill>
                <a:srgbClr val="FF6B35"/>
              </a:solidFill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e25</c:v>
              </c:pt>
              <c:pt idx="1">
                <c:v>e28</c:v>
              </c:pt>
              <c:pt idx="2">
                <c:v>e29</c:v>
              </c:pt>
              <c:pt idx="3">
                <c:v>e30</c:v>
              </c:pt>
              <c:pt idx="4">
                <c:v>e31</c:v>
              </c:pt>
              <c:pt idx="5">
                <c:v>e32</c:v>
              </c:pt>
              <c:pt idx="6">
                <c:v>e33</c:v>
              </c:pt>
              <c:pt idx="7">
                <c:v>e34</c:v>
              </c:pt>
              <c:pt idx="8">
                <c:v>e35</c:v>
              </c:pt>
              <c:pt idx="9">
                <c:v>e36</c:v>
              </c:pt>
            </c:strLit>
          </c:cat>
          <c:val>
            <c:numLit>
              <c:formatCode>General</c:formatCode>
              <c:ptCount val="10"/>
              <c:pt idx="0">
                <c:v>0.84</c:v>
              </c:pt>
              <c:pt idx="1">
                <c:v>0.786</c:v>
              </c:pt>
              <c:pt idx="2">
                <c:v>0.789</c:v>
              </c:pt>
              <c:pt idx="3">
                <c:v>0.806</c:v>
              </c:pt>
              <c:pt idx="4">
                <c:v>0.793</c:v>
              </c:pt>
              <c:pt idx="5">
                <c:v>0.792</c:v>
              </c:pt>
              <c:pt idx="6">
                <c:v>0.787</c:v>
              </c:pt>
              <c:pt idx="7">
                <c:v>0.787</c:v>
              </c:pt>
              <c:pt idx="8">
                <c:v>0.785</c:v>
              </c:pt>
              <c:pt idx="9">
                <c:v>0.785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86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55555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E1B411-D63F-4176-8B81-A0FCC91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4C2F-CB08-474E-995F-CEC2D1B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5EDBC-A746-4423-84A0-6E47669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TSTTC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803C9-5E1E-4797-B66C-3144301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334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当前改动模块与实验数据复盘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415D-A30A-4E13-BEA9-DD7256E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909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对比旧版 PPM1st best=10.393 与当前 50bin/multiscale best=10.420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A6B77-2D12-41E5-B350-57094ED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3562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BB996-64E3-49D3-B7A2-8759E6A1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72B09-353A-4FC8-882F-C5362BB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当前改动显著改善 0-3s 近距离 TTC，但长/负 TTC 两个大样本区间小幅回退，抵消了总体收益。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C6673-DEBE-4EB4-ACD2-244F8C9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3562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5FEBB-0D82-459C-88CF-F6156D94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174"/>
                </a:solidFill>
              </a:defRPr>
            </a:pPr>
            <a:r>
              <a:rPr sz="1650" b="1">
                <a:solidFill>
                  <a:srgbClr val="0E8174"/>
                </a:solidFill>
              </a:rPr>
              <a:t>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D4F4F-A8FF-48C7-8057-E2F676A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29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保留当前近距离收益，优先做 PPM 与当前融合的轻量 ablation，而不是盲目长训。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45BD6-5E2A-441E-AF7C-10FE3F46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2026-06-29 / local workspace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0B835-069C-448B-B61A-55D73D2F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1779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07E3B-A266-447F-9E78-9A2E97B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实验复盘摘要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3D1C1-E816-40AE-9323-C697466A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一句话结论：0-3s 变好，但总 RTE 被大区间抵消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64C43-188B-42BB-A15D-F3A3FC1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CF41-DE0B-4033-89A1-6DEE2886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9385-6D06-4E28-AAFF-CEB36963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910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当前不是训练明显不够，而是模型能力分布发生了迁移。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2E55-346E-4EA8-BD7D-28133022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4F4E4-EF45-442B-A4C5-CF93B38F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5EAA"/>
                </a:solidFill>
              </a:defRPr>
            </a:pPr>
            <a:r>
              <a:rPr sz="2850" b="1">
                <a:solidFill>
                  <a:srgbClr val="2F5EAA"/>
                </a:solidFill>
              </a:rPr>
              <a:t>10.393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86F61-0A7C-452B-BD62-19B576D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旧 PPM1st best RTE @ epoch 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97BF0-9922-4F55-8E80-17CD10B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425BB-6C94-461F-8C8D-86BCC79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10.420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A2F9A-6009-4D97-95D7-9DD36050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当前 50bin best RTE @ epoch 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9F2A9-46DC-451B-BF5B-724D0A1A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C67F3-6352-4615-87A5-5B44A127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33A3A"/>
                </a:solidFill>
              </a:defRPr>
            </a:pPr>
            <a:r>
              <a:rPr sz="2850" b="1">
                <a:solidFill>
                  <a:srgbClr val="B33A3A"/>
                </a:solidFill>
              </a:rPr>
              <a:t>+0.027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5ABD8-8EE6-4672-89CE-BFA15141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当前相对旧 best 的 RTE 差值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70793-C906-4991-9993-0480681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7C55C-B587-4604-B399-AF55FB73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8174"/>
                </a:solidFill>
              </a:defRPr>
            </a:pPr>
            <a:r>
              <a:rPr sz="2850" b="1">
                <a:solidFill>
                  <a:srgbClr val="0E8174"/>
                </a:solidFill>
              </a:rPr>
              <a:t>0-3s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BA386-B89F-4F48-9765-350CB67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当前唯一显著改善的 TTC 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BFA39-90D8-462B-A3AC-2C9ADE8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关键解释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EC6E3-0FCF-4DE7-B93E-087EE718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0-3s 样本只占约 13.5%，虽然 RTE 从 6.24 降到 5.51；但 -20~0 与 6~20 合计约 72.6% 的样本上小幅回退，整体指标因此几乎不动。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23AF7-0647-43E0-A368-6EE51E5B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PPM1st/train_log.txt, full_backbone_ml_distribution_head_50bin/train_log.txt</a:t>
            </a:r>
          </a:p>
        </p:txBody>
      </p:sp>
    </p:spTree>
    <p:extLst>
      <p:ext uri="{BB962C8B-B14F-4D97-AF65-F5344CB8AC3E}">
        <p14:creationId xmlns:p14="http://schemas.microsoft.com/office/powerpoint/2010/main" val="580717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1DA52-5F5B-44C6-81A3-C1FBE71D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模块地图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76101-1093-4DF0-894B-90F8111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当前工程改动分两类：已影响本次实验的结构，和下一轮可打开的数据增强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0E9E-D962-4BCE-9C86-10218FF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74D5-53E8-4FD0-BB08-C4CABC19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F6584-3A79-4A96-85C2-01D22CED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17F54-463D-4FE4-ABC6-AD685AD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A"/>
                </a:solidFill>
              </a:defRPr>
            </a:pPr>
            <a:r>
              <a:rPr sz="1650" b="1">
                <a:solidFill>
                  <a:srgbClr val="2F5EAA"/>
                </a:solidFill>
              </a:rPr>
              <a:t>Backbone / feature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355DD-303B-4A09-847F-CEFBF675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133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当前实验使用 MultiLevelFeatureFusion + MultiScaleFeatureFusion。目标是融合浅层细节、中层上下文和高层语义。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A7BD7-18B1-45BA-9656-8BAC1D9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AB0A7-5051-49A2-82F7-B73850E3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050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Head /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6011D-C0CD-48BE-A12E-9FE7E3BD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133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50-bin distribution head；soft target 插值；支持按 frame_gap 转换 TTC 与 scale。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4735F-1064-4AA6-B0CA-D2466D8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8FD7F-BD0C-42B7-BF45-E34D8345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174"/>
                </a:solidFill>
              </a:defRPr>
            </a:pPr>
            <a:r>
              <a:rPr sz="1650" b="1">
                <a:solidFill>
                  <a:srgbClr val="0E8174"/>
                </a:solidFill>
              </a:rPr>
              <a:t>Evaluator /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22BE-6206-479F-A0F3-1BD01C70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3133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修正 mixed frame_gap 下 fps 计算；scale error 改为直接比较 scale，而不是复用 TTC。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164A2-FD00-4429-A8D4-A000315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543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74151-91FD-4631-A181-81E2DC24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4E"/>
                </a:solidFill>
              </a:defRPr>
            </a:pPr>
            <a:r>
              <a:rPr sz="1650" b="1">
                <a:solidFill>
                  <a:srgbClr val="2F7D4E"/>
                </a:solidFill>
              </a:rPr>
              <a:t>Data pipeline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F43A8-92B5-4734-AC0B-0D61BE21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20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all frame pairs、frame_pair_sample_num、reverse_aug_append、reverse_ttc_mode。但本次训练配置为关闭状态。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F10BC-99B9-4640-B78D-9A4160F3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71900"/>
            <a:ext cx="5543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1702F-2BE2-4AC3-B1B0-A4AFF6BA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433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Experiment 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A63C1-9FB7-4009-879D-DE1A922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20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当前配置：head_type=distribution，scale_num=50，use_backbone_multiscale_fusion=True，normalize_similarity=False，topk_weight=0。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EB931-A1AE-46F4-BB67-29EC879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Code references: exp/Deep_TTC.py, model/backbone.py, model/ttc_head.py, core/evaluator.py, data/ttc_dataset.py</a:t>
            </a:r>
          </a:p>
        </p:txBody>
      </p:sp>
    </p:spTree>
    <p:extLst>
      <p:ext uri="{BB962C8B-B14F-4D97-AF65-F5344CB8AC3E}">
        <p14:creationId xmlns:p14="http://schemas.microsoft.com/office/powerpoint/2010/main" val="1726727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C22D3-656A-4721-9F30-19B108FC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结构对比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5128-1BD4-49DA-99C2-B367878C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旧 10.39 与当前 10.42 不是同一个特征增强路径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A4D18-5BD9-493B-9643-ADBDEC4E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A3586-7290-4C75-B6CA-C69B70E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767BB-E562-42AF-8D4C-6CB7338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EAA"/>
                </a:solidFill>
              </a:defRPr>
            </a:pPr>
            <a:r>
              <a:rPr sz="2100" b="1">
                <a:solidFill>
                  <a:srgbClr val="2F5EAA"/>
                </a:solidFill>
              </a:rPr>
              <a:t>旧 PPM1st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F027B-53EA-495F-B14C-DC8BC0CE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当前 50bin / multiscale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920B0-0772-494C-8FF0-027665F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E687A-1633-49C4-B3F4-87197815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TTCBase backbone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90528-CCEE-430B-BF47-CB2B6C7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67BD6-7E02-4602-A106-411320F6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Legacy PPM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F3491-C3F3-48B9-8B81-B561355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23A6-7524-4CDB-A44F-4F2D30C0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Distribution 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746FB-BEBE-49DE-9050-2451499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C0CBD-2F07-4C42-9E82-35E36CA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TTCBase backbone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7F92D-22AC-4AE1-AD80-2C94454E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0ACE1-3B70-4753-82C4-5145CFCE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Low + mid + high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142BD-099B-4420-9775-C069D096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D0818-A643-46C7-A2B6-11902349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Detail/context/global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528AA-210B-4EAB-9107-C84028B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762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0F1EE-8E43-42B4-941D-1165495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旧 checkpoint 参数包含 backbone.ppm.*；当前 best checkpoint 包含 backbone.multiscale_fusion.*。所以 0.027 RTE 的差距更像结构偏好差异，而不是单纯训练轮数问题。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1D893-73E5-4C50-98AA-97620F6B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Checkpoint metadata: old best start_epoch=30, current best start_epoch=36</a:t>
            </a:r>
          </a:p>
        </p:txBody>
      </p:sp>
    </p:spTree>
    <p:extLst>
      <p:ext uri="{BB962C8B-B14F-4D97-AF65-F5344CB8AC3E}">
        <p14:creationId xmlns:p14="http://schemas.microsoft.com/office/powerpoint/2010/main" val="1958314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D0219-08ED-491C-AE7F-B4E0CD1B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数据与评估设置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4A007-5157-40FA-AAA5-291CDABA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数据侧新增能力已就位，但本次 10.42 实验没有打开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63049-6117-40EA-A8F6-B895FFC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EE9B-F0BC-4D78-963E-340D2F6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33650"/>
                <a:gridCol w="1447800"/>
                <a:gridCol w="325755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开关 / 设置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当前值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对本次结果的影响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use_all_frame_pairs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False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未启用全帧对增强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reverse_aug_prob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未启用 reverse pair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validation pair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first-last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验证仍为固定 frame gap=5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frame_gap-aware evaluator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已实现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对未来 mixed-gap eval 必要；本次验证影响小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scale error compute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直接比较 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scale 指标更合理，RTE 主结论不变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317D9-5892-4660-9F1C-01957494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3A3A"/>
                </a:solidFill>
              </a:defRPr>
            </a:pPr>
            <a:r>
              <a:rPr sz="1800" b="1">
                <a:solidFill>
                  <a:srgbClr val="B33A3A"/>
                </a:solidFill>
              </a:rPr>
              <a:t>注意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46F44-0BD6-43DF-A53B-4F842832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不要把 frame-pair augmentation 的收益或风险归因到这次 10.42。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它是下一轮实验变量：能增加近距离和不同 frame_gap 监督，但也可能改变分布，需要单独 ablation。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72EEF-A30E-45CF-BB5C-B9DE5FF5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Code diff: data/ttc_dataset.py, core/evaluator.py, exp/Deep_TTC.py</a:t>
            </a:r>
          </a:p>
        </p:txBody>
      </p:sp>
    </p:spTree>
    <p:extLst>
      <p:ext uri="{BB962C8B-B14F-4D97-AF65-F5344CB8AC3E}">
        <p14:creationId xmlns:p14="http://schemas.microsoft.com/office/powerpoint/2010/main" val="1980382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DC318-7C2A-45CD-AD76-27F93F5E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指标总览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CE927-BD08-41F5-8187-38D0AB2B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总体差距很小：当前更快，但 RTE 未超过旧 PPM1st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BD508-91B9-4EA1-964E-59805012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F9E2F-6E6E-4358-9B22-A7F5FA0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69533"/>
                <a:gridCol w="1930400"/>
                <a:gridCol w="1930400"/>
                <a:gridCol w="1608667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旧 PPM1st best e30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当前 50bin best e36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Average RTE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10.3930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10.4204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+0.0274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Average 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60.4843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60.3933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-0.0910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Inference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0.0914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0.0823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更快约 10%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Best epoch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当前后期才到 best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Final RTE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10.5336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10.4204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旧版后期回退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096250" y="1905000"/>
          <a:ext xmlns:a="http://schemas.openxmlformats.org/drawingml/2006/main" cx="3333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d81afac97d459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63FC8-729A-4571-830C-EEB0752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旧 best: 2026-03-23 22:51:26; 当前 best: 2026-06-28 13:49:40</a:t>
            </a:r>
          </a:p>
        </p:txBody>
      </p:sp>
    </p:spTree>
    <p:extLst>
      <p:ext uri="{BB962C8B-B14F-4D97-AF65-F5344CB8AC3E}">
        <p14:creationId xmlns:p14="http://schemas.microsoft.com/office/powerpoint/2010/main" val="388538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1561F-D443-44FA-8813-C974054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分段指标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869A6-ACBE-4DAD-89ED-1C40968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0-3s 提升被大样本区间的轻微回退抵消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08948-A084-46EB-A20F-26CDB7D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EB0C9-7A32-4527-8803-A121E157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6096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016000"/>
                <a:gridCol w="889000"/>
                <a:gridCol w="1016000"/>
                <a:gridCol w="1143000"/>
                <a:gridCol w="8890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TTC bin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Samples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Old RTE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Current RTE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-20~0s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8561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29.9%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11.85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12.01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+0.16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0~3s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3876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13.5%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6.24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5.51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-0.73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3~6s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3958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13.8%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7.14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7.13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-0.01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6~20s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12221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42.7%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11.54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11.63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+0.09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953250" y="1657350"/>
          <a:ext xmlns:a="http://schemas.openxmlformats.org/drawingml/2006/main" cx="447675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158f6f9062419e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086600" y="4305300"/>
          <a:ext xmlns:a="http://schemas.openxmlformats.org/drawingml/2006/main" cx="20002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b393bee3a7486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8A853-E841-4D9E-982B-924B1770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样本权重决定总体表现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BD38E-4B75-44A8-B064-A7183604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006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-20~0 与 6~20 合计 72.6%。这两个区间各退一点，就足以抵消 0-3s 的大幅改善。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DC6D7-EB6F-4544-AED2-15B3332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分段 RTE 来自两次 best epoch 日志；Delta 为 Current - Old，负值代表当前更好</a:t>
            </a:r>
          </a:p>
        </p:txBody>
      </p:sp>
    </p:spTree>
    <p:extLst>
      <p:ext uri="{BB962C8B-B14F-4D97-AF65-F5344CB8AC3E}">
        <p14:creationId xmlns:p14="http://schemas.microsoft.com/office/powerpoint/2010/main" val="388705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3E6C6-4534-43E0-937C-A1FA4F8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训练动态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5861E-3AAF-42CB-8C82-F3013746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曲线显示：继续长训的边际收益很低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B50ED-49D1-4988-8A7C-92BFE8D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EB53-A541-4968-A807-87E537C2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6954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fa110a99eb4e18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591300" y="16954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f61f50df504fd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08EDF-28BD-44FB-AE9B-458BB73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8A85-890E-476C-A879-14649DC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旧版 e30 达到 10.393 后继续训练反而回退；当前 e28-e36 主要在 10.46~10.42 间震荡。loss 在后期也已平台化。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9A680-64ED-4924-89CE-128A2D50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Loss 使用每个 epoch 最后 100 条训练日志均值；用于趋势判断，不作为最终指标</a:t>
            </a:r>
          </a:p>
        </p:txBody>
      </p:sp>
    </p:spTree>
    <p:extLst>
      <p:ext uri="{BB962C8B-B14F-4D97-AF65-F5344CB8AC3E}">
        <p14:creationId xmlns:p14="http://schemas.microsoft.com/office/powerpoint/2010/main" val="1731377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5B1AE-1854-4F97-92E4-E0255F9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原因分析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4440-1BF6-45D9-8E5D-36E86B35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 0-3s 会提升，但总体没有明显变化？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75579-D28E-4E15-AFE9-2B55372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08E03-03AE-46B8-8BAB-2AD99575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20CF-175A-4197-8EB0-9B16EFD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76C3A-3D12-4F26-A338-6ACFF35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174"/>
                </a:solidFill>
              </a:defRPr>
            </a:pPr>
            <a:r>
              <a:rPr sz="1650" b="1">
                <a:solidFill>
                  <a:srgbClr val="0E8174"/>
                </a:solidFill>
              </a:rPr>
              <a:t>0-3s 变好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1C6DD-E78B-4A25-8461-F6802CF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086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短 TTC 对尺度变化更敏感，目标边界和局部纹理信号更强。当前多层融合把浅层细节带回 head，因此更适合快速接近场景。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712FA-309A-4E2F-BF1C-D1474628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7D00E-50FD-44A2-A281-3B8EE71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长/负 TTC 略退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FD368-9B82-4368-9CF4-AF98FEC3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3086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长 TTC 的 scale ratio 接近 1，信号弱，额外浅层细节和门控可能引入局部噪声。旧 PPM 的上下文增强更稳定。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314D3-81ED-4398-98BB-5F907530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92CC3-8185-4220-BDBA-B3EC96ED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总体被抵消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B6040-1BDD-490C-BFB1-E9F1353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3086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0-3s 样本占比小；-20~0 与 6~20 样本占比大。小幅回退乘以大权重，抵消了近距离收益。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C8B59-1BDC-4D9E-9877-AA8B8AC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一句话：当前模型更会处理“快速靠近”，但对“慢变化/远距离/负 TTC”的稳定性还不如旧 PPM。</a:t>
            </a:r>
          </a:p>
        </p:txBody>
      </p:sp>
    </p:spTree>
    <p:extLst>
      <p:ext uri="{BB962C8B-B14F-4D97-AF65-F5344CB8AC3E}">
        <p14:creationId xmlns:p14="http://schemas.microsoft.com/office/powerpoint/2010/main" val="1091617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3D4ED-C306-45AA-A330-FC22E753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优化路线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A2E9C-9474-4363-BB48-1F7A4B6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下一步优先做低风险 ablation，目标是保住 0-3s 同时拉回大区间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6C0B-8C29-48B8-821D-5F50913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BC109-26C3-4631-8C33-EAE1D44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101917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73969"/>
                <a:gridCol w="3609578"/>
                <a:gridCol w="3609578"/>
                <a:gridCol w="1698625"/>
              </a:tblGrid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优先级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预期收益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风险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PPM legacy 接回当前干净代码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验证旧 10.39 是否可复现，建立强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PPM + 当前 distribution head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保留旧上下文稳定性，同时测试 50bin head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低-中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当前 fusion 只保留 context/global，弱化 detail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改善长 TTC 稳定性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按 TTC bin 加权或采样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提升大样本区间外的均衡性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frame-pair/reverse augmentation ablation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增加不同 frame_gap 监督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中-高，需要单独评估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17BF1-2BCE-4FDD-9E3B-FE51E1DC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停止条件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E26C4-033C-459E-9939-7FD82E12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每个 ablation 至少记录 best epoch、final epoch、四个 TTC bin、inference time。若 0-3s 下降且大区间没有补回来，就不继续扩大训练。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CE067-ED24-4CCC-AADC-B60B6C9A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建议基于当前日志、checkpoint 参数名和分段样本占比</a:t>
            </a:r>
          </a:p>
        </p:txBody>
      </p:sp>
    </p:spTree>
    <p:extLst>
      <p:ext uri="{BB962C8B-B14F-4D97-AF65-F5344CB8AC3E}">
        <p14:creationId xmlns:p14="http://schemas.microsoft.com/office/powerpoint/2010/main" val="1519411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2026-06-29T06:32:44.3320000Z</dcterms:created>
  <dcterms:modified xsi:type="dcterms:W3CDTF">2026-06-29T06:32:44.3330000Z</dcterms:modified>
</coreProperties>
</file>